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10698150" cx="15087600"/>
  <p:notesSz cx="6858000" cy="9144000"/>
  <p:embeddedFontLst>
    <p:embeddedFont>
      <p:font typeface="Raleway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gik2eCq06gDdtTHW3Lazf6EwP5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131570" y="1750834"/>
            <a:ext cx="12824460" cy="3724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0"/>
              <a:buFont typeface="Calibri"/>
              <a:buNone/>
              <a:defRPr sz="9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85950" y="5619013"/>
            <a:ext cx="11315700" cy="2582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3744"/>
              <a:buNone/>
              <a:defRPr sz="3743"/>
            </a:lvl1pPr>
            <a:lvl2pPr lvl="1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None/>
              <a:defRPr sz="3120"/>
            </a:lvl2pPr>
            <a:lvl3pPr lvl="2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None/>
              <a:defRPr sz="2808"/>
            </a:lvl3pPr>
            <a:lvl4pPr lvl="3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4pPr>
            <a:lvl5pPr lvl="4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5pPr>
            <a:lvl6pPr lvl="5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6pPr>
            <a:lvl7pPr lvl="6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7pPr>
            <a:lvl8pPr lvl="7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8pPr>
            <a:lvl9pPr lvl="8" algn="ctr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37273" y="569580"/>
            <a:ext cx="13013055" cy="2067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7273" y="2847891"/>
            <a:ext cx="13013055" cy="678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029415" y="2667115"/>
            <a:ext cx="13013055" cy="4450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0"/>
              <a:buFont typeface="Calibri"/>
              <a:buNone/>
              <a:defRPr sz="9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029415" y="7159353"/>
            <a:ext cx="13013055" cy="234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3744"/>
              <a:buNone/>
              <a:defRPr sz="3743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3120"/>
              <a:buNone/>
              <a:defRPr sz="312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808"/>
              <a:buNone/>
              <a:defRPr sz="280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6"/>
              <a:buNone/>
              <a:defRPr sz="2496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6"/>
              <a:buNone/>
              <a:defRPr sz="249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6"/>
              <a:buNone/>
              <a:defRPr sz="2496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6"/>
              <a:buNone/>
              <a:defRPr sz="2496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6"/>
              <a:buNone/>
              <a:defRPr sz="2496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2496"/>
              <a:buNone/>
              <a:defRPr sz="2496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037273" y="569580"/>
            <a:ext cx="13013055" cy="2067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037273" y="2847891"/>
            <a:ext cx="6412230" cy="678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7638098" y="2847891"/>
            <a:ext cx="6412230" cy="678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039238" y="569580"/>
            <a:ext cx="13013055" cy="2067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039239" y="2622536"/>
            <a:ext cx="6382761" cy="12852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3744"/>
              <a:buNone/>
              <a:defRPr b="1" sz="3743"/>
            </a:lvl1pPr>
            <a:lvl2pPr indent="-2286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None/>
              <a:defRPr b="1" sz="3120"/>
            </a:lvl2pPr>
            <a:lvl3pPr indent="-2286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None/>
              <a:defRPr b="1" sz="2808"/>
            </a:lvl3pPr>
            <a:lvl4pPr indent="-2286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4pPr>
            <a:lvl5pPr indent="-2286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5pPr>
            <a:lvl6pPr indent="-2286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6pPr>
            <a:lvl7pPr indent="-2286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7pPr>
            <a:lvl8pPr indent="-2286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8pPr>
            <a:lvl9pPr indent="-2286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039239" y="3907801"/>
            <a:ext cx="6382761" cy="574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7638098" y="2622536"/>
            <a:ext cx="6414195" cy="12852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3744"/>
              <a:buNone/>
              <a:defRPr b="1" sz="3743"/>
            </a:lvl1pPr>
            <a:lvl2pPr indent="-2286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None/>
              <a:defRPr b="1" sz="3120"/>
            </a:lvl2pPr>
            <a:lvl3pPr indent="-2286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None/>
              <a:defRPr b="1" sz="2808"/>
            </a:lvl3pPr>
            <a:lvl4pPr indent="-2286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4pPr>
            <a:lvl5pPr indent="-2286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5pPr>
            <a:lvl6pPr indent="-2286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6pPr>
            <a:lvl7pPr indent="-2286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7pPr>
            <a:lvl8pPr indent="-2286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8pPr>
            <a:lvl9pPr indent="-2286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b="1" sz="2496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7638098" y="3907801"/>
            <a:ext cx="6414195" cy="574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037273" y="569580"/>
            <a:ext cx="13013055" cy="2067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039238" y="713211"/>
            <a:ext cx="4866144" cy="24962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92"/>
              <a:buFont typeface="Calibri"/>
              <a:buNone/>
              <a:defRPr sz="49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414195" y="1540340"/>
            <a:ext cx="7638098" cy="7602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45592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4992"/>
              <a:buChar char="•"/>
              <a:defRPr sz="4992"/>
            </a:lvl1pPr>
            <a:lvl2pPr indent="-505968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4368"/>
              <a:buChar char="•"/>
              <a:defRPr sz="4368"/>
            </a:lvl2pPr>
            <a:lvl3pPr indent="-466344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4"/>
              <a:buChar char="•"/>
              <a:defRPr sz="3743"/>
            </a:lvl3pPr>
            <a:lvl4pPr indent="-426719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Char char="•"/>
              <a:defRPr sz="3120"/>
            </a:lvl4pPr>
            <a:lvl5pPr indent="-42672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Char char="•"/>
              <a:defRPr sz="3120"/>
            </a:lvl5pPr>
            <a:lvl6pPr indent="-42672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Char char="•"/>
              <a:defRPr sz="3120"/>
            </a:lvl6pPr>
            <a:lvl7pPr indent="-42672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Char char="•"/>
              <a:defRPr sz="3120"/>
            </a:lvl7pPr>
            <a:lvl8pPr indent="-42672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Char char="•"/>
              <a:defRPr sz="3120"/>
            </a:lvl8pPr>
            <a:lvl9pPr indent="-42672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Char char="•"/>
              <a:defRPr sz="312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039238" y="3209449"/>
            <a:ext cx="4866144" cy="594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1pPr>
            <a:lvl2pPr indent="-2286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184"/>
              <a:buNone/>
              <a:defRPr sz="2184"/>
            </a:lvl2pPr>
            <a:lvl3pPr indent="-2286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72"/>
              <a:buNone/>
              <a:defRPr sz="1871"/>
            </a:lvl3pPr>
            <a:lvl4pPr indent="-2286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4pPr>
            <a:lvl5pPr indent="-2286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5pPr>
            <a:lvl6pPr indent="-2286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6pPr>
            <a:lvl7pPr indent="-2286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7pPr>
            <a:lvl8pPr indent="-2286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8pPr>
            <a:lvl9pPr indent="-2286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039238" y="713211"/>
            <a:ext cx="4866144" cy="24962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92"/>
              <a:buFont typeface="Calibri"/>
              <a:buNone/>
              <a:defRPr sz="49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414195" y="1540340"/>
            <a:ext cx="7638098" cy="760263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039238" y="3209449"/>
            <a:ext cx="4866144" cy="594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2496"/>
              <a:buNone/>
              <a:defRPr sz="2496"/>
            </a:lvl1pPr>
            <a:lvl2pPr indent="-2286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184"/>
              <a:buNone/>
              <a:defRPr sz="2184"/>
            </a:lvl2pPr>
            <a:lvl3pPr indent="-2286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72"/>
              <a:buNone/>
              <a:defRPr sz="1871"/>
            </a:lvl3pPr>
            <a:lvl4pPr indent="-2286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4pPr>
            <a:lvl5pPr indent="-2286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5pPr>
            <a:lvl6pPr indent="-2286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6pPr>
            <a:lvl7pPr indent="-2286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7pPr>
            <a:lvl8pPr indent="-2286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8pPr>
            <a:lvl9pPr indent="-2286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560"/>
              <a:buNone/>
              <a:defRPr sz="156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037273" y="569580"/>
            <a:ext cx="13013055" cy="2067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49858" y="-264694"/>
            <a:ext cx="6787886" cy="13013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890597" y="3476046"/>
            <a:ext cx="9066199" cy="3253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289771" y="317079"/>
            <a:ext cx="9066199" cy="957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9CC">
            <a:alpha val="15686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037273" y="569580"/>
            <a:ext cx="13013055" cy="2067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64"/>
              <a:buFont typeface="Calibri"/>
              <a:buNone/>
              <a:defRPr b="0" i="0" sz="686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037273" y="2847891"/>
            <a:ext cx="13013055" cy="678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5968" lvl="0" marL="457200" marR="0" rtl="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4368"/>
              <a:buFont typeface="Arial"/>
              <a:buChar char="•"/>
              <a:defRPr b="0" i="0" sz="436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6344" lvl="1" marL="9144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744"/>
              <a:buFont typeface="Arial"/>
              <a:buChar char="•"/>
              <a:defRPr b="0" i="0" sz="37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26719" lvl="2" marL="13716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120"/>
              <a:buFont typeface="Arial"/>
              <a:buChar char="•"/>
              <a:defRPr b="0" i="0" sz="31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908" lvl="3" marL="18288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Arial"/>
              <a:buChar char="•"/>
              <a:defRPr b="0" i="0" sz="2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907" lvl="4" marL="22860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Arial"/>
              <a:buChar char="•"/>
              <a:defRPr b="0" i="0" sz="2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907" lvl="5" marL="27432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Arial"/>
              <a:buChar char="•"/>
              <a:defRPr b="0" i="0" sz="2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907" lvl="6" marL="32004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Arial"/>
              <a:buChar char="•"/>
              <a:defRPr b="0" i="0" sz="2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907" lvl="7" marL="36576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Arial"/>
              <a:buChar char="•"/>
              <a:defRPr b="0" i="0" sz="2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908" lvl="8" marL="4114800" marR="0" rtl="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Arial"/>
              <a:buChar char="•"/>
              <a:defRPr b="0" i="0" sz="28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5600" y="4524275"/>
            <a:ext cx="4883400" cy="2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Langages et technologies</a:t>
            </a:r>
            <a:endParaRPr sz="1600"/>
          </a:p>
          <a:p>
            <a:pPr indent="-1714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langage principal. rapidité de prototypage, bibliothèques multimédia et vision.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Pygame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interface graphique &amp; logique de jeu (fenêtre, rendu, événements).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détection et suivi du visage pour l’énigme 1 (mapping mouvements → commandes).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Makey Makey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transforme entrées tactiles en touches clavier. Interface simple et dynamique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CSS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65600" y="1588975"/>
            <a:ext cx="9028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Incarnez des étudiants en informatique et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tâchez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sauver un serveur d’un virus. Ce virus exploite des biais cognitifs : les joueurs devront les déjouer pour progresser dans leur quête.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472798" y="6198525"/>
            <a:ext cx="4126500" cy="14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rythme induit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et la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perception  auditive, comment gardons nous le rythme après un silence ?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0744350" y="1939275"/>
            <a:ext cx="4126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Labyrinthe à l’aide de la reconnaissance faciale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tâche de sélection de Wason met en évidence un erreur de raisonnement logique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0977400" y="8608063"/>
            <a:ext cx="3117300" cy="2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Parier sans faire d’erreurs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lois mathématiques et l’intuition trompeuse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819525" y="7325087"/>
            <a:ext cx="3117300" cy="2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Jugement Trompeur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Biais de disponibilité: estimation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d'une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probabilité selon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facilité avec laquelle on s’en souvient.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048999" y="3731463"/>
            <a:ext cx="5982600" cy="2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Qu’est-ce qu’un biais cognitif ?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biais cognitif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 une déviation systématique dans la pensée humaine : un raccourci mental qui facilite le traitement de l’information mais qui peut conduire à des erreurs de jugement.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>
            <a:stCxn id="86" idx="3"/>
            <a:endCxn id="88" idx="0"/>
          </p:cNvCxnSpPr>
          <p:nvPr/>
        </p:nvCxnSpPr>
        <p:spPr>
          <a:xfrm flipH="1">
            <a:off x="12536198" y="6919725"/>
            <a:ext cx="2063100" cy="1688400"/>
          </a:xfrm>
          <a:prstGeom prst="curvedConnector4">
            <a:avLst>
              <a:gd fmla="val -11542" name="adj1"/>
              <a:gd fmla="val 71356" name="adj2"/>
            </a:avLst>
          </a:prstGeom>
          <a:noFill/>
          <a:ln cap="flat" cmpd="sng" w="101600">
            <a:solidFill>
              <a:srgbClr val="38761D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" name="Google Shape;92;p1"/>
          <p:cNvCxnSpPr>
            <a:stCxn id="87" idx="1"/>
            <a:endCxn id="86" idx="0"/>
          </p:cNvCxnSpPr>
          <p:nvPr/>
        </p:nvCxnSpPr>
        <p:spPr>
          <a:xfrm>
            <a:off x="10744350" y="2835375"/>
            <a:ext cx="1791600" cy="3363300"/>
          </a:xfrm>
          <a:prstGeom prst="curvedConnector4">
            <a:avLst>
              <a:gd fmla="val -13291" name="adj1"/>
              <a:gd fmla="val 63320" name="adj2"/>
            </a:avLst>
          </a:prstGeom>
          <a:noFill/>
          <a:ln cap="flat" cmpd="sng" w="101600">
            <a:solidFill>
              <a:srgbClr val="38761D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" name="Google Shape;93;p1"/>
          <p:cNvCxnSpPr>
            <a:stCxn id="88" idx="1"/>
            <a:endCxn id="89" idx="3"/>
          </p:cNvCxnSpPr>
          <p:nvPr/>
        </p:nvCxnSpPr>
        <p:spPr>
          <a:xfrm rot="10800000">
            <a:off x="8936800" y="8404663"/>
            <a:ext cx="2040600" cy="1283100"/>
          </a:xfrm>
          <a:prstGeom prst="curvedConnector3">
            <a:avLst>
              <a:gd fmla="val 49999" name="adj1"/>
            </a:avLst>
          </a:prstGeom>
          <a:noFill/>
          <a:ln cap="flat" cmpd="sng" w="101600">
            <a:solidFill>
              <a:srgbClr val="38761D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" name="Google Shape;94;p1"/>
          <p:cNvSpPr/>
          <p:nvPr/>
        </p:nvSpPr>
        <p:spPr>
          <a:xfrm>
            <a:off x="2133867" y="340450"/>
            <a:ext cx="10488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Conception d’un escape game numérique: MindTrap</a:t>
            </a:r>
            <a:endParaRPr b="1" sz="3700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65600" y="806225"/>
            <a:ext cx="14758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Les enjeux des biais </a:t>
            </a:r>
            <a:r>
              <a:rPr b="1" lang="en-US" sz="31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cognitifs</a:t>
            </a:r>
            <a:endParaRPr b="1" sz="31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2025-10-08T08:44:01Z</dcterms:created>
  <dc:creator>Nicolas</dc:creator>
</cp:coreProperties>
</file>